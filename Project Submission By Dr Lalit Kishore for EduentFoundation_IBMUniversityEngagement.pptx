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5"/>
  </p:notesMasterIdLst>
  <p:sldIdLst>
    <p:sldId id="283" r:id="rId2"/>
    <p:sldId id="257" r:id="rId3"/>
    <p:sldId id="282" r:id="rId4"/>
    <p:sldId id="285" r:id="rId5"/>
    <p:sldId id="281" r:id="rId6"/>
    <p:sldId id="279" r:id="rId7"/>
    <p:sldId id="264" r:id="rId8"/>
    <p:sldId id="278" r:id="rId9"/>
    <p:sldId id="277" r:id="rId10"/>
    <p:sldId id="286" r:id="rId11"/>
    <p:sldId id="287" r:id="rId12"/>
    <p:sldId id="280" r:id="rId13"/>
    <p:sldId id="276"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104" d="100"/>
          <a:sy n="104"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mailto:ARORA.CBSE@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579741382"/>
              </p:ext>
            </p:extLst>
          </p:nvPr>
        </p:nvGraphicFramePr>
        <p:xfrm>
          <a:off x="1299255" y="2317227"/>
          <a:ext cx="9394989" cy="3080049"/>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2106812">
                <a:tc>
                  <a:txBody>
                    <a:bodyPr/>
                    <a:lstStyle/>
                    <a:p>
                      <a:pPr marL="0" marR="0" lvl="0" indent="0" algn="l" rtl="0">
                        <a:spcBef>
                          <a:spcPts val="0"/>
                        </a:spcBef>
                        <a:spcAft>
                          <a:spcPts val="0"/>
                        </a:spcAft>
                        <a:buNone/>
                      </a:pPr>
                      <a:r>
                        <a:rPr lang="en-US" dirty="0"/>
                        <a:t>Dr. LALIT KISHORE</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hlinkClick r:id="rId3"/>
                        </a:rPr>
                        <a:t>ARORA.CBSE@GMAIL.COM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9355977410</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Healthcare</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Nutrition Agent</a:t>
            </a:r>
            <a:r>
              <a:rPr lang="en-US" sz="2400" dirty="0"/>
              <a:t> </a:t>
            </a:r>
            <a:endParaRPr lang="en-IN" sz="2400" b="1" dirty="0">
              <a:highlight>
                <a:srgbClr val="FFFF00"/>
              </a:highlight>
            </a:endParaRPr>
          </a:p>
        </p:txBody>
      </p:sp>
      <p:pic>
        <p:nvPicPr>
          <p:cNvPr id="10" name="Picture 9">
            <a:extLst>
              <a:ext uri="{FF2B5EF4-FFF2-40B4-BE49-F238E27FC236}">
                <a16:creationId xmlns:a16="http://schemas.microsoft.com/office/drawing/2014/main" id="{F5F49C4A-86F8-4BC9-941F-53E3BBFEF818}"/>
              </a:ext>
            </a:extLst>
          </p:cNvPr>
          <p:cNvPicPr>
            <a:picLocks noChangeAspect="1"/>
          </p:cNvPicPr>
          <p:nvPr/>
        </p:nvPicPr>
        <p:blipFill>
          <a:blip r:embed="rId4"/>
          <a:stretch>
            <a:fillRect/>
          </a:stretch>
        </p:blipFill>
        <p:spPr>
          <a:xfrm>
            <a:off x="4128654" y="3635537"/>
            <a:ext cx="942109" cy="113190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dirty="0"/>
              <a:t>Problem Statement : Nutrition Agent</a:t>
            </a:r>
            <a:r>
              <a:rPr lang="en-US" dirty="0"/>
              <a:t> </a:t>
            </a:r>
          </a:p>
          <a:p>
            <a:pPr fontAlgn="base"/>
            <a:endParaRPr lang="en-US" b="1" dirty="0"/>
          </a:p>
          <a:p>
            <a:pPr fontAlgn="base"/>
            <a:r>
              <a:rPr lang="en-US" b="1" dirty="0"/>
              <a:t>The Challenge</a:t>
            </a:r>
            <a:r>
              <a:rPr lang="en-US" dirty="0"/>
              <a:t> </a:t>
            </a:r>
          </a:p>
          <a:p>
            <a:pPr fontAlgn="base"/>
            <a:r>
              <a:rPr lang="en-US" dirty="0"/>
              <a:t>Good nutrition is the foundation of health, but individuals often struggle with </a:t>
            </a:r>
            <a:r>
              <a:rPr lang="en-US" b="1" dirty="0"/>
              <a:t>diet planning, portion control, and tracking nutritional intake</a:t>
            </a:r>
            <a:r>
              <a:rPr lang="en-US" dirty="0"/>
              <a:t>. Information about healthy diets, disease-specific nutrition, and food composition is scattered across unreliable sources. Without </a:t>
            </a:r>
            <a:r>
              <a:rPr lang="en-US" b="1" dirty="0"/>
              <a:t>personalized, real-time guidance</a:t>
            </a:r>
            <a:r>
              <a:rPr lang="en-US" dirty="0"/>
              <a:t>, many fail to maintain balanced diets or make informed food choices. </a:t>
            </a:r>
          </a:p>
          <a:p>
            <a:pPr fontAlgn="base"/>
            <a:endParaRPr lang="en-US" dirty="0"/>
          </a:p>
          <a:p>
            <a:pPr fontAlgn="base"/>
            <a:r>
              <a:rPr lang="en-US" b="1" dirty="0"/>
              <a:t>The Objective</a:t>
            </a:r>
            <a:r>
              <a:rPr lang="en-US" dirty="0"/>
              <a:t> </a:t>
            </a:r>
          </a:p>
          <a:p>
            <a:pPr fontAlgn="base"/>
            <a:r>
              <a:rPr lang="en-US" dirty="0"/>
              <a:t>Build an </a:t>
            </a:r>
            <a:r>
              <a:rPr lang="en-US" b="1" dirty="0"/>
              <a:t>AI-powered Nutrition Agent</a:t>
            </a:r>
            <a:r>
              <a:rPr lang="en-US" dirty="0"/>
              <a:t> that delivers </a:t>
            </a:r>
            <a:r>
              <a:rPr lang="en-US" b="1" dirty="0"/>
              <a:t>personalized dietary insights and guidance</a:t>
            </a:r>
            <a:r>
              <a:rPr lang="en-US" dirty="0"/>
              <a:t> for individuals, families, and health professionals. The solution should: </a:t>
            </a:r>
          </a:p>
          <a:p>
            <a:pPr marL="285750" indent="-285750" fontAlgn="base">
              <a:buFont typeface="Arial" panose="020B0604020202020204" pitchFamily="34" charset="0"/>
              <a:buChar char="•"/>
            </a:pPr>
            <a:r>
              <a:rPr lang="en-US" b="1" dirty="0"/>
              <a:t>Personalized Diet Plans</a:t>
            </a:r>
            <a:r>
              <a:rPr lang="en-US" dirty="0"/>
              <a:t> – Recommend meals based on age, health conditions, allergies, cultural preferences, and fitness goals. </a:t>
            </a:r>
          </a:p>
          <a:p>
            <a:pPr marL="285750" indent="-285750" fontAlgn="base">
              <a:buFont typeface="Arial" panose="020B0604020202020204" pitchFamily="34" charset="0"/>
              <a:buChar char="•"/>
            </a:pPr>
            <a:r>
              <a:rPr lang="en-US" b="1" dirty="0"/>
              <a:t>Food Data RAG Retrieval</a:t>
            </a:r>
            <a:r>
              <a:rPr lang="en-US" dirty="0"/>
              <a:t> – Fetch and summarize nutritional values (calories, macros, vitamins) from reliable sources. </a:t>
            </a:r>
          </a:p>
          <a:p>
            <a:pPr marL="285750" indent="-285750" fontAlgn="base">
              <a:buFont typeface="Arial" panose="020B0604020202020204" pitchFamily="34" charset="0"/>
              <a:buChar char="•"/>
            </a:pPr>
            <a:r>
              <a:rPr lang="en-US" b="1" dirty="0"/>
              <a:t>Diet Tracking &amp; Feedback</a:t>
            </a:r>
            <a:r>
              <a:rPr lang="en-US" dirty="0"/>
              <a:t> – Allow users to log meals via text, images, or voice, and provide instant nutritional analysis. </a:t>
            </a:r>
          </a:p>
          <a:p>
            <a:pPr marL="285750" indent="-285750" fontAlgn="base">
              <a:buFont typeface="Arial" panose="020B0604020202020204" pitchFamily="34" charset="0"/>
              <a:buChar char="•"/>
            </a:pPr>
            <a:r>
              <a:rPr lang="en-US" b="1" dirty="0"/>
              <a:t>Preventive Health Focus</a:t>
            </a:r>
            <a:r>
              <a:rPr lang="en-US" dirty="0"/>
              <a:t> – Suggest diets for chronic disease management (e.g., diabetes-friendly or heart-healthy plans). </a:t>
            </a:r>
          </a:p>
          <a:p>
            <a:pPr marL="285750" indent="-285750" fontAlgn="base">
              <a:buFont typeface="Arial" panose="020B0604020202020204" pitchFamily="34" charset="0"/>
              <a:buChar char="•"/>
            </a:pPr>
            <a:r>
              <a:rPr lang="en-US" b="1" dirty="0"/>
              <a:t>Multi-Agent System</a:t>
            </a:r>
            <a:r>
              <a:rPr lang="en-US" dirty="0"/>
              <a:t> – </a:t>
            </a:r>
          </a:p>
          <a:p>
            <a:pPr marL="285750" indent="-285750" fontAlgn="base">
              <a:buFont typeface="Arial" panose="020B0604020202020204" pitchFamily="34" charset="0"/>
              <a:buChar char="•"/>
            </a:pPr>
            <a:r>
              <a:rPr lang="en-US" b="1" dirty="0"/>
              <a:t>Nutrition Knowledge Agent</a:t>
            </a:r>
            <a:r>
              <a:rPr lang="en-US" dirty="0"/>
              <a:t> (fetches nutritional data) </a:t>
            </a:r>
          </a:p>
          <a:p>
            <a:pPr marL="285750" indent="-285750" fontAlgn="base">
              <a:buFont typeface="Arial" panose="020B0604020202020204" pitchFamily="34" charset="0"/>
              <a:buChar char="•"/>
            </a:pPr>
            <a:r>
              <a:rPr lang="en-US" b="1" dirty="0"/>
              <a:t>Diet Recommendation Agent</a:t>
            </a:r>
            <a:r>
              <a:rPr lang="en-US" dirty="0"/>
              <a:t> (personalized meal plans) </a:t>
            </a:r>
          </a:p>
          <a:p>
            <a:pPr marL="285750" indent="-285750" fontAlgn="base">
              <a:buFont typeface="Arial" panose="020B0604020202020204" pitchFamily="34" charset="0"/>
              <a:buChar char="•"/>
            </a:pPr>
            <a:r>
              <a:rPr lang="en-US" b="1" dirty="0"/>
              <a:t>Health Advisory Agent</a:t>
            </a:r>
            <a:r>
              <a:rPr lang="en-US" dirty="0"/>
              <a:t> (preventive health suggestions) </a:t>
            </a:r>
          </a:p>
          <a:p>
            <a:pPr marL="285750" indent="-285750" fontAlgn="base">
              <a:buFont typeface="Arial" panose="020B0604020202020204" pitchFamily="34" charset="0"/>
              <a:buChar char="•"/>
            </a:pPr>
            <a:r>
              <a:rPr lang="en-US" b="1" dirty="0"/>
              <a:t>Food Log &amp; Feedback Agent</a:t>
            </a:r>
            <a:r>
              <a:rPr lang="en-US" dirty="0"/>
              <a:t> (meal tracking + analysis) </a:t>
            </a:r>
          </a:p>
          <a:p>
            <a:pPr marL="285750" indent="-285750" fontAlgn="base">
              <a:buFont typeface="Arial" panose="020B0604020202020204" pitchFamily="34" charset="0"/>
              <a:buChar char="•"/>
            </a:pPr>
            <a:r>
              <a:rPr lang="en-US" b="1" dirty="0"/>
              <a:t>Visualization Dashboard</a:t>
            </a:r>
            <a:r>
              <a:rPr lang="en-US" dirty="0"/>
              <a:t> – Show daily/weekly nutrient intake, deficiencies, and progress toward health goals. </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649962" y="704088"/>
            <a:ext cx="10720001" cy="5970865"/>
          </a:xfrm>
          <a:prstGeom prst="rect">
            <a:avLst/>
          </a:prstGeom>
          <a:noFill/>
        </p:spPr>
        <p:txBody>
          <a:bodyPr wrap="square" rtlCol="0">
            <a:spAutoFit/>
          </a:bodyPr>
          <a:lstStyle/>
          <a:p>
            <a:pPr algn="ctr"/>
            <a:r>
              <a:rPr lang="en-US" sz="1800" b="1" dirty="0">
                <a:solidFill>
                  <a:srgbClr val="0070C0"/>
                </a:solidFill>
              </a:rPr>
              <a:t>AI-Powered Nutrition Agent</a:t>
            </a:r>
          </a:p>
          <a:p>
            <a:endParaRPr lang="en-US" dirty="0"/>
          </a:p>
          <a:p>
            <a:pPr marL="285750" indent="-285750">
              <a:buFont typeface="Wingdings" panose="05000000000000000000" pitchFamily="2" charset="2"/>
              <a:buChar char="Ø"/>
            </a:pPr>
            <a:r>
              <a:rPr lang="en-US" dirty="0"/>
              <a:t>The proposed solution is a </a:t>
            </a:r>
            <a:r>
              <a:rPr lang="en-US" b="1" dirty="0"/>
              <a:t>multi-agent AI-powered Nutrition Agent</a:t>
            </a:r>
            <a:r>
              <a:rPr lang="en-US" dirty="0"/>
              <a:t> built using </a:t>
            </a:r>
            <a:r>
              <a:rPr lang="en-US" b="1" dirty="0" err="1"/>
              <a:t>LangFlow</a:t>
            </a:r>
            <a:r>
              <a:rPr lang="en-US" b="1" dirty="0"/>
              <a:t>, IBM watsonx.ai, and Granite Models</a:t>
            </a:r>
            <a:r>
              <a:rPr lang="en-US" dirty="0"/>
              <a:t> to provide personalized, real-time dietary guidance. The system addresses challenges in diet planning, nutrition tracking, and preventive healthcare through an intelligent, modular architecture.</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At its core, the solution uses a </a:t>
            </a:r>
            <a:r>
              <a:rPr lang="en-US" b="1" dirty="0"/>
              <a:t>Retrieval-Augmented Generation (RAG)</a:t>
            </a:r>
            <a:r>
              <a:rPr lang="en-US" dirty="0"/>
              <a:t> pipeline to fetch accurate nutritional data from trusted sources such as USDA and WHO datasets. This data is embedded and stored in a vector database, enabling the system to retrieve and summarize food nutrition details (calories, macros, vitamins) using Granite models.</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The system consists of four key agents:</a:t>
            </a:r>
          </a:p>
          <a:p>
            <a:pPr marL="285750" lvl="8" indent="-285750">
              <a:buFont typeface="Arial" panose="020B0604020202020204" pitchFamily="34" charset="0"/>
              <a:buChar char="•"/>
            </a:pPr>
            <a:r>
              <a:rPr lang="en-US" b="1" dirty="0"/>
              <a:t>Nutrition Knowledge Agent</a:t>
            </a:r>
            <a:r>
              <a:rPr lang="en-US" dirty="0"/>
              <a:t> retrieves and summarizes nutritional information using RAG. </a:t>
            </a:r>
          </a:p>
          <a:p>
            <a:pPr marL="285750" lvl="7" indent="-285750">
              <a:buFont typeface="Arial" panose="020B0604020202020204" pitchFamily="34" charset="0"/>
              <a:buChar char="•"/>
            </a:pPr>
            <a:r>
              <a:rPr lang="en-US" b="1" dirty="0"/>
              <a:t>Diet Recommendation Agent</a:t>
            </a:r>
            <a:r>
              <a:rPr lang="en-US" dirty="0"/>
              <a:t> generates personalized meal plans based on user inputs such as age, health conditions, dietary preferences, and fitness goals. </a:t>
            </a:r>
          </a:p>
          <a:p>
            <a:pPr marL="285750" lvl="7" indent="-285750">
              <a:buFont typeface="Arial" panose="020B0604020202020204" pitchFamily="34" charset="0"/>
              <a:buChar char="•"/>
            </a:pPr>
            <a:r>
              <a:rPr lang="en-US" b="1" dirty="0"/>
              <a:t>Health Advisory Agent</a:t>
            </a:r>
            <a:r>
              <a:rPr lang="en-US" dirty="0"/>
              <a:t> provides preventive health suggestions, including disease-specific diets (e.g., diabetes-friendly or heart-healthy plans). </a:t>
            </a:r>
          </a:p>
          <a:p>
            <a:pPr marL="285750" lvl="7" indent="-285750">
              <a:buFont typeface="Arial" panose="020B0604020202020204" pitchFamily="34" charset="0"/>
              <a:buChar char="•"/>
            </a:pPr>
            <a:r>
              <a:rPr lang="en-US" b="1" dirty="0"/>
              <a:t>Food Log &amp; Feedback Agent</a:t>
            </a:r>
            <a:r>
              <a:rPr lang="en-US" dirty="0"/>
              <a:t> allows users to log meals via text, voice, or images and delivers instant nutritional analysis with actionable feedback. </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The solution includes a </a:t>
            </a:r>
            <a:r>
              <a:rPr lang="en-US" b="1" dirty="0"/>
              <a:t>user-friendly dashboard</a:t>
            </a:r>
            <a:r>
              <a:rPr lang="en-US" dirty="0"/>
              <a:t> (built with </a:t>
            </a:r>
            <a:r>
              <a:rPr lang="en-US" dirty="0" err="1"/>
              <a:t>Streamlit</a:t>
            </a:r>
            <a:r>
              <a:rPr lang="en-US" dirty="0"/>
              <a:t> or React) that visualizes daily and weekly nutrient intake, highlights deficiencies, and tracks progress toward health goals.</a:t>
            </a:r>
          </a:p>
          <a:p>
            <a:pPr marL="285750" indent="-285750">
              <a:buFont typeface="Wingdings" panose="05000000000000000000" pitchFamily="2" charset="2"/>
              <a:buChar char="Ø"/>
            </a:pPr>
            <a:r>
              <a:rPr lang="en-US" dirty="0" err="1"/>
              <a:t>LangFlow</a:t>
            </a:r>
            <a:r>
              <a:rPr lang="en-US" dirty="0"/>
              <a:t> is used to orchestrate agent workflows, while watsonx.ai ensures scalable model deployment, embeddings, and AI governance. Granite models power reasoning, summarization, and personalization.</a:t>
            </a:r>
          </a:p>
          <a:p>
            <a:pPr marL="285750" indent="-285750">
              <a:buFont typeface="Wingdings" panose="05000000000000000000" pitchFamily="2" charset="2"/>
              <a:buChar char="Ø"/>
            </a:pPr>
            <a:r>
              <a:rPr lang="en-US" dirty="0"/>
              <a:t>Overall, this solution delivers an </a:t>
            </a:r>
            <a:r>
              <a:rPr lang="en-US" b="1" dirty="0"/>
              <a:t>end-to-end intelligent nutrition assistant</a:t>
            </a:r>
            <a:r>
              <a:rPr lang="en-US" dirty="0"/>
              <a:t> that promotes healthier lifestyles through personalized insights, real-time feedback, and preventive healthcare recommendations.</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2942983"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616648"/>
          </a:xfrm>
          <a:prstGeom prst="rect">
            <a:avLst/>
          </a:prstGeom>
          <a:noFill/>
        </p:spPr>
        <p:txBody>
          <a:bodyPr wrap="square" rtlCol="0">
            <a:spAutoFit/>
          </a:bodyPr>
          <a:lstStyle/>
          <a:p>
            <a:endParaRPr lang="en-US" dirty="0"/>
          </a:p>
          <a:p>
            <a:r>
              <a:rPr lang="en-US" b="1" dirty="0"/>
              <a:t>1) Chat Input </a:t>
            </a:r>
            <a:r>
              <a:rPr lang="en-US" dirty="0"/>
              <a:t>– Interface where users enter their queries, preferences, or meal details (text/voice/image).</a:t>
            </a:r>
          </a:p>
          <a:p>
            <a:endParaRPr lang="en-US" dirty="0"/>
          </a:p>
          <a:p>
            <a:r>
              <a:rPr lang="en-US" b="1" dirty="0"/>
              <a:t>2) IBM </a:t>
            </a:r>
            <a:r>
              <a:rPr lang="en-US" b="1" dirty="0" err="1"/>
              <a:t>watsonx</a:t>
            </a:r>
            <a:r>
              <a:rPr lang="en-US" b="1" dirty="0"/>
              <a:t> AI Agent </a:t>
            </a:r>
            <a:r>
              <a:rPr lang="en-US" dirty="0"/>
              <a:t>- Processes user input using Granite models to generate personalized nutrition insights and recommendations. </a:t>
            </a:r>
          </a:p>
          <a:p>
            <a:endParaRPr lang="en-US" dirty="0"/>
          </a:p>
          <a:p>
            <a:r>
              <a:rPr lang="en-US" b="1" dirty="0"/>
              <a:t>3) Name of IBM Granite model - </a:t>
            </a:r>
            <a:r>
              <a:rPr lang="en-US" dirty="0"/>
              <a:t>Granite-4.0-8B-Instruct → Fast, efficient for real-time diet recommendations</a:t>
            </a:r>
          </a:p>
          <a:p>
            <a:endParaRPr lang="en-US" dirty="0"/>
          </a:p>
          <a:p>
            <a:r>
              <a:rPr lang="en-US" b="1" dirty="0"/>
              <a:t>4) Chat output -</a:t>
            </a:r>
            <a:r>
              <a:rPr lang="en-US" dirty="0"/>
              <a:t>Displays AI-generated responses such as diet plans, nutritional analysis, and health suggestions.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1BF3590-52D3-DC9D-2C84-E66D9597D77D}"/>
              </a:ext>
            </a:extLst>
          </p:cNvPr>
          <p:cNvPicPr>
            <a:picLocks noChangeAspect="1"/>
          </p:cNvPicPr>
          <p:nvPr/>
        </p:nvPicPr>
        <p:blipFill>
          <a:blip r:embed="rId3"/>
          <a:stretch>
            <a:fillRect/>
          </a:stretch>
        </p:blipFill>
        <p:spPr>
          <a:xfrm>
            <a:off x="464439" y="1066220"/>
            <a:ext cx="11469656" cy="5544892"/>
          </a:xfrm>
          <a:prstGeom prst="rect">
            <a:avLst/>
          </a:prstGeom>
        </p:spPr>
      </p:pic>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spTree>
    <p:extLst>
      <p:ext uri="{BB962C8B-B14F-4D97-AF65-F5344CB8AC3E}">
        <p14:creationId xmlns:p14="http://schemas.microsoft.com/office/powerpoint/2010/main" val="2772501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dirty="0"/>
              <a:t>Role of Agentic AI in Nutrition Agent</a:t>
            </a:r>
          </a:p>
          <a:p>
            <a:r>
              <a:rPr lang="en-US" b="1" dirty="0"/>
              <a:t>Agentic AI</a:t>
            </a:r>
            <a:r>
              <a:rPr lang="en-US" dirty="0"/>
              <a:t> enables the Nutrition Agent to function as an intelligent, autonomous system rather than a simple chatbot. Using </a:t>
            </a:r>
            <a:r>
              <a:rPr lang="en-US" b="1" dirty="0"/>
              <a:t>IBM watsonx.ai</a:t>
            </a:r>
            <a:r>
              <a:rPr lang="en-US" dirty="0"/>
              <a:t> and </a:t>
            </a:r>
            <a:r>
              <a:rPr lang="en-US" b="1" dirty="0"/>
              <a:t>IBM Granite models</a:t>
            </a:r>
            <a:r>
              <a:rPr lang="en-US" dirty="0"/>
              <a:t>, it coordinates multiple specialized agents to deliver personalized nutrition guidance.</a:t>
            </a:r>
          </a:p>
          <a:p>
            <a:r>
              <a:rPr lang="en-US" dirty="0"/>
              <a:t>Each agent performs a specific role—such as retrieving nutritional data, generating diet plans, providing health advice, and analyzing food logs—while working collaboratively. This </a:t>
            </a:r>
            <a:r>
              <a:rPr lang="en-US" b="1" dirty="0"/>
              <a:t>multi-agent approach</a:t>
            </a:r>
            <a:r>
              <a:rPr lang="en-US" dirty="0"/>
              <a:t> ensures efficient task execution and accurate results.</a:t>
            </a:r>
          </a:p>
          <a:p>
            <a:r>
              <a:rPr lang="en-US" dirty="0"/>
              <a:t>Agentic AI also brings </a:t>
            </a:r>
            <a:r>
              <a:rPr lang="en-US" b="1" dirty="0"/>
              <a:t>context awareness</a:t>
            </a:r>
            <a:r>
              <a:rPr lang="en-US" dirty="0"/>
              <a:t>, understanding user details like age, health conditions, and fitness goals to generate tailored recommendations. It supports </a:t>
            </a:r>
            <a:r>
              <a:rPr lang="en-US" b="1" dirty="0"/>
              <a:t>real-time adaptation</a:t>
            </a:r>
            <a:r>
              <a:rPr lang="en-US" dirty="0"/>
              <a:t>, continuously updating suggestions based on user inputs like daily meals.</a:t>
            </a:r>
          </a:p>
          <a:p>
            <a:r>
              <a:rPr lang="en-US" dirty="0"/>
              <a:t>Additionally, agents communicate with each other, enabling better decision-making and improved outcomes.</a:t>
            </a:r>
          </a:p>
          <a:p>
            <a:r>
              <a:rPr lang="en-US" dirty="0"/>
              <a:t>Overall, Agentic AI makes the system proactive, personalized, and goal-driven, acting like a </a:t>
            </a:r>
            <a:r>
              <a:rPr lang="en-US" b="1" dirty="0"/>
              <a:t>smart digital nutritionist</a:t>
            </a:r>
            <a:r>
              <a:rPr lang="en-US" dirty="0"/>
              <a:t> that helps users maintain a healthy lifestyle.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232202"/>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dirty="0">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2" name="Picture 1" descr="A screenshot of a computer&#10;&#10;AI-generated content may be incorrect.">
            <a:extLst>
              <a:ext uri="{FF2B5EF4-FFF2-40B4-BE49-F238E27FC236}">
                <a16:creationId xmlns:a16="http://schemas.microsoft.com/office/drawing/2014/main" id="{E9DB3200-E2EC-A058-B02D-E1510060484E}"/>
              </a:ext>
            </a:extLst>
          </p:cNvPr>
          <p:cNvPicPr>
            <a:picLocks noChangeAspect="1"/>
          </p:cNvPicPr>
          <p:nvPr/>
        </p:nvPicPr>
        <p:blipFill>
          <a:blip r:embed="rId3"/>
          <a:stretch>
            <a:fillRect/>
          </a:stretch>
        </p:blipFill>
        <p:spPr>
          <a:xfrm>
            <a:off x="797873" y="1572554"/>
            <a:ext cx="4579423" cy="2822245"/>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03614573-D426-9337-9C0E-5207B9123920}"/>
              </a:ext>
            </a:extLst>
          </p:cNvPr>
          <p:cNvPicPr>
            <a:picLocks noChangeAspect="1"/>
          </p:cNvPicPr>
          <p:nvPr/>
        </p:nvPicPr>
        <p:blipFill>
          <a:blip r:embed="rId4"/>
          <a:stretch>
            <a:fillRect/>
          </a:stretch>
        </p:blipFill>
        <p:spPr>
          <a:xfrm>
            <a:off x="6121978" y="1562409"/>
            <a:ext cx="5074227" cy="2812844"/>
          </a:xfrm>
          <a:prstGeom prst="rect">
            <a:avLst/>
          </a:prstGeom>
        </p:spPr>
      </p:pic>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spTree>
    <p:extLst>
      <p:ext uri="{BB962C8B-B14F-4D97-AF65-F5344CB8AC3E}">
        <p14:creationId xmlns:p14="http://schemas.microsoft.com/office/powerpoint/2010/main" val="21154848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dirty="0"/>
              <a:t>The proposed Nutrition Agent stands out by combining </a:t>
            </a:r>
            <a:r>
              <a:rPr lang="en-IN" sz="1800" b="1" dirty="0"/>
              <a:t>Agentic AI, RAG, and personalization</a:t>
            </a:r>
            <a:r>
              <a:rPr lang="en-IN" sz="1800" dirty="0"/>
              <a:t> into a single intelligent system.</a:t>
            </a:r>
          </a:p>
          <a:p>
            <a:endParaRPr lang="en-IN" sz="1800" dirty="0"/>
          </a:p>
          <a:p>
            <a:r>
              <a:rPr lang="en-IN" sz="1800" b="1" dirty="0"/>
              <a:t>Multi-Agent Intelligence</a:t>
            </a:r>
            <a:r>
              <a:rPr lang="en-IN" sz="1800" dirty="0"/>
              <a:t> – Instead of a single chatbot, multiple specialized agents collaborate to deliver accurate and context-aware nutrition guidance. </a:t>
            </a:r>
          </a:p>
          <a:p>
            <a:r>
              <a:rPr lang="en-IN" sz="1800" b="1" dirty="0"/>
              <a:t>RAG-Based Accuracy</a:t>
            </a:r>
            <a:r>
              <a:rPr lang="en-IN" sz="1800" dirty="0"/>
              <a:t> – Integrates real-time data retrieval with AI generation, reducing misinformation and ensuring trustworthy recommendations. </a:t>
            </a:r>
          </a:p>
          <a:p>
            <a:r>
              <a:rPr lang="en-IN" sz="1800" b="1" dirty="0"/>
              <a:t>Hyper-Personalization</a:t>
            </a:r>
            <a:r>
              <a:rPr lang="en-IN" sz="1800" dirty="0"/>
              <a:t> – Tailors diet plans based on health conditions, cultural preferences, and fitness goals. </a:t>
            </a:r>
          </a:p>
          <a:p>
            <a:r>
              <a:rPr lang="en-IN" sz="1800" b="1" dirty="0"/>
              <a:t>Real-Time Feedback Loop</a:t>
            </a:r>
            <a:r>
              <a:rPr lang="en-IN" sz="1800" dirty="0"/>
              <a:t> – Continuously adapts recommendations based on daily food logs and user </a:t>
            </a:r>
            <a:r>
              <a:rPr lang="en-IN" sz="1800" dirty="0" err="1"/>
              <a:t>behavior</a:t>
            </a:r>
            <a:r>
              <a:rPr lang="en-IN" sz="1800" dirty="0"/>
              <a:t>. </a:t>
            </a:r>
          </a:p>
          <a:p>
            <a:r>
              <a:rPr lang="en-IN" sz="1800" b="1" dirty="0"/>
              <a:t>Multi-Modal Input</a:t>
            </a:r>
            <a:r>
              <a:rPr lang="en-IN" sz="1800" dirty="0"/>
              <a:t> – Supports text, voice, and image-based meal tracking for better usability. </a:t>
            </a:r>
          </a:p>
          <a:p>
            <a:r>
              <a:rPr lang="en-IN" sz="1800" b="1" dirty="0"/>
              <a:t>Preventive Healthcare Focus</a:t>
            </a:r>
            <a:r>
              <a:rPr lang="en-IN" sz="1800" dirty="0"/>
              <a:t> – Goes beyond diet planning to provide disease-specific nutrition advice. </a:t>
            </a:r>
          </a:p>
          <a:p>
            <a:r>
              <a:rPr lang="en-IN" sz="1800" b="1" dirty="0"/>
              <a:t>Scalable &amp; Enterprise-Ready</a:t>
            </a:r>
            <a:r>
              <a:rPr lang="en-IN" sz="1800" dirty="0"/>
              <a:t> – Built on </a:t>
            </a:r>
            <a:r>
              <a:rPr lang="en-IN" sz="1800" b="1" dirty="0"/>
              <a:t>IBM watsonx.ai</a:t>
            </a:r>
            <a:r>
              <a:rPr lang="en-IN" sz="1800" dirty="0"/>
              <a:t> with </a:t>
            </a:r>
            <a:r>
              <a:rPr lang="en-IN" sz="1800" b="1" dirty="0"/>
              <a:t>IBM Granite models</a:t>
            </a:r>
            <a:r>
              <a:rPr lang="en-IN" sz="1800" dirty="0"/>
              <a:t>, ensuring reliability and governance. </a:t>
            </a:r>
          </a:p>
          <a:p>
            <a:endParaRPr lang="en-IN" sz="1800" dirty="0"/>
          </a:p>
          <a:p>
            <a:r>
              <a:rPr lang="en-IN" sz="1800" dirty="0"/>
              <a:t>This makes the solution a </a:t>
            </a:r>
            <a:r>
              <a:rPr lang="en-IN" sz="1800" b="1" dirty="0"/>
              <a:t>smart, adaptive, and proactive digital nutritionist</a:t>
            </a:r>
            <a:r>
              <a:rPr lang="en-IN" sz="1800" dirty="0"/>
              <a:t>, not just a static diet recommendation tool.</a:t>
            </a:r>
            <a:endParaRPr lang="en-US" dirty="0"/>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345224"/>
            <a:ext cx="9214580" cy="2635649"/>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2000" b="1" i="0" u="none" strike="noStrike" cap="none" dirty="0">
                <a:solidFill>
                  <a:srgbClr val="2B3541"/>
                </a:solidFill>
                <a:latin typeface="Times New Roman"/>
                <a:ea typeface="Times New Roman"/>
                <a:cs typeface="Times New Roman"/>
                <a:sym typeface="Times New Roman"/>
              </a:rPr>
              <a:t>https://github.com/aroracbse-coder/IBM-Project</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dirty="0">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dirty="0">
                <a:solidFill>
                  <a:srgbClr val="2B3541"/>
                </a:solidFill>
                <a:latin typeface="Times New Roman"/>
                <a:ea typeface="Times New Roman"/>
                <a:cs typeface="Times New Roman"/>
                <a:sym typeface="Times New Roman"/>
              </a:rPr>
              <a:t>2.</a:t>
            </a:r>
            <a:r>
              <a:rPr lang="en-US" sz="1850" b="1" i="0" u="none" strike="noStrike" cap="none" dirty="0">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dirty="0">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1404</TotalTime>
  <Words>1271</Words>
  <Application>Microsoft Office PowerPoint</Application>
  <PresentationFormat>Widescreen</PresentationFormat>
  <Paragraphs>118</Paragraphs>
  <Slides>13</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Times New Roman</vt:lpstr>
      <vt:lpstr>Wingdings</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user</cp:lastModifiedBy>
  <cp:revision>48</cp:revision>
  <dcterms:created xsi:type="dcterms:W3CDTF">2025-07-08T05:06:56Z</dcterms:created>
  <dcterms:modified xsi:type="dcterms:W3CDTF">2026-04-30T09:40:14Z</dcterms:modified>
</cp:coreProperties>
</file>